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Мини-проект №8" id="{ed03c055-52f1-714c-3e15-ad063904ea8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B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B33"/>
                </a:solidFill>
                <a:latin typeface="+mn-lt"/>
              </a:rPr>
              <a:t>Нарушения SLA, шт.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Нарушения SLA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5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Обычный период</c:v>
                  </c:pt>
                  <c:pt idx="1">
                    <c:v>Сессия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B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B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Проект: служба поддержки студентов. Заявка получает приоритет и срок SLA, проходит статусы, попадает в очередь; система находит нарушения SLA. Реализованы все темы лекций 1–8.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цифры: 30 заявок в данных, 61 автотест, 9 модулей, 2 взаимозаменяемые политики приоритета. Всё запускается из консоли: python main.py --demo.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Статусы и допустимые переходы заданы графом TRANSITIONS. Из «Решена» заявку можно вернуть в работу, из «Закрыта» выхода нет. Срок решения зависит от приоритета.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и модели, логика, точка входа. Зависимости идут в одну сторону, циклических импортов нет. Ticket изменяется только через методы, аналитика работает с неизменяемыми снимками TicketView.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тема лекций закреплена за конкретным модулем; полная таблица соответствия есть в README и отчёте.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PriorityPolicy задаёт приоритет и норматив SLA. DefaultPriority и ExamPeriodPriority взаимозаменяемы. ExamPeriodPriority оборачивает базовую политику — это композиция. HelpDesk при смене политики пересчитывает сроки всех заявок.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iter_queue — ленивый генератор на куче: первые k заявок выдаются без полной сортировки. Предикаты-замыкания собираются в фильтры; статистика считается через reduce без изменения аккумулятора.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задача — найти нарушения SLA. Три решения возвращают один и тот же список из 12 заявок, это проверяет автотест. Различие в том, как легко менять правила и тестировать код. Итог — гибрид парадигм.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Одни и те же 30 заявок под двумя политиками. В сессию нормативы вдвое короче, приоритет оценок, расписания и технических заявок выше. Доля заявок в срок падает с 60 до 20 процентов.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Итоги: все темы лекций 1–8 применены, объёмы и ограничения названы честно.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6576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8E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8E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Служба поддержки студентов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Мини-проект №8 · Парадигмы программирования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PP 2205 · СРО 2 · лекции 1–8</a:t>
            </a:r>
            <a:endParaRPr lang="en-US" sz="1800" dirty="0"/>
          </a:p>
        </p:txBody>
      </p:sp>
      <p:sp>
        <p:nvSpPr>
          <p:cNvPr id="4" name="badge-1"/>
          <p:cNvSpPr/>
          <p:nvPr/>
        </p:nvSpPr>
        <p:spPr>
          <a:xfrm>
            <a:off x="7498080" y="54864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7498080" y="548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Что получилось</a:t>
            </a:r>
            <a:endParaRPr lang="en-US" sz="3400" dirty="0"/>
          </a:p>
        </p:txBody>
      </p:sp>
      <p:sp>
        <p:nvSpPr>
          <p:cNvPr id="4" name="card-3"/>
          <p:cNvSpPr/>
          <p:nvPr/>
        </p:nvSpPr>
        <p:spPr>
          <a:xfrm>
            <a:off x="548640" y="141732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4"/>
          <p:cNvSpPr txBox="1"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6" name="text-5"/>
          <p:cNvSpPr txBox="1"/>
          <p:nvPr/>
        </p:nvSpPr>
        <p:spPr>
          <a:xfrm>
            <a:off x="64008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заявок в данных</a:t>
            </a:r>
            <a:endParaRPr lang="en-US" sz="1400" dirty="0"/>
          </a:p>
        </p:txBody>
      </p:sp>
      <p:sp>
        <p:nvSpPr>
          <p:cNvPr id="7" name="card-6"/>
          <p:cNvSpPr/>
          <p:nvPr/>
        </p:nvSpPr>
        <p:spPr>
          <a:xfrm>
            <a:off x="2606040" y="141732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7"/>
          <p:cNvSpPr txBox="1"/>
          <p:nvPr/>
        </p:nvSpPr>
        <p:spPr>
          <a:xfrm>
            <a:off x="26060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5400" dirty="0"/>
          </a:p>
        </p:txBody>
      </p:sp>
      <p:sp>
        <p:nvSpPr>
          <p:cNvPr id="9" name="text-8"/>
          <p:cNvSpPr txBox="1"/>
          <p:nvPr/>
        </p:nvSpPr>
        <p:spPr>
          <a:xfrm>
            <a:off x="269748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автотест проходят</a:t>
            </a:r>
            <a:endParaRPr lang="en-US" sz="1400" dirty="0"/>
          </a:p>
        </p:txBody>
      </p:sp>
      <p:sp>
        <p:nvSpPr>
          <p:cNvPr id="10" name="card-9"/>
          <p:cNvSpPr/>
          <p:nvPr/>
        </p:nvSpPr>
        <p:spPr>
          <a:xfrm>
            <a:off x="4663440" y="141732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10"/>
          <p:cNvSpPr txBox="1"/>
          <p:nvPr/>
        </p:nvSpPr>
        <p:spPr>
          <a:xfrm>
            <a:off x="46634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12" name="text-11"/>
          <p:cNvSpPr txBox="1"/>
          <p:nvPr/>
        </p:nvSpPr>
        <p:spPr>
          <a:xfrm>
            <a:off x="475488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модулей в пакете</a:t>
            </a:r>
            <a:endParaRPr lang="en-US" sz="1400" dirty="0"/>
          </a:p>
        </p:txBody>
      </p:sp>
      <p:sp>
        <p:nvSpPr>
          <p:cNvPr id="13" name="card-12"/>
          <p:cNvSpPr/>
          <p:nvPr/>
        </p:nvSpPr>
        <p:spPr>
          <a:xfrm>
            <a:off x="6720840" y="141732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3"/>
          <p:cNvSpPr txBox="1"/>
          <p:nvPr/>
        </p:nvSpPr>
        <p:spPr>
          <a:xfrm>
            <a:off x="67208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5" name="text-14"/>
          <p:cNvSpPr txBox="1"/>
          <p:nvPr/>
        </p:nvSpPr>
        <p:spPr>
          <a:xfrm>
            <a:off x="681228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политики приоритета</a:t>
            </a:r>
            <a:endParaRPr lang="en-US" sz="1400" dirty="0"/>
          </a:p>
        </p:txBody>
      </p:sp>
      <p:sp>
        <p:nvSpPr>
          <p:cNvPr id="16" name="text-15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Заявка → приоритет → срок SLA → очередь → отчёт о нарушениях. Весь цикл работает в консоли и покрыт тестами.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8E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Жизненный цикл заявки</a:t>
            </a:r>
            <a:endParaRPr lang="en-US" sz="3400" dirty="0"/>
          </a:p>
        </p:txBody>
      </p:sp>
      <p:sp>
        <p:nvSpPr>
          <p:cNvPr id="4" name="step-16"/>
          <p:cNvSpPr/>
          <p:nvPr/>
        </p:nvSpPr>
        <p:spPr>
          <a:xfrm>
            <a:off x="457200" y="1417320"/>
            <a:ext cx="14173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17"/>
          <p:cNvSpPr txBox="1"/>
          <p:nvPr/>
        </p:nvSpPr>
        <p:spPr>
          <a:xfrm>
            <a:off x="502920" y="14173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Новая</a:t>
            </a:r>
            <a:endParaRPr lang="en-US" sz="1400" dirty="0"/>
          </a:p>
        </p:txBody>
      </p:sp>
      <p:sp>
        <p:nvSpPr>
          <p:cNvPr id="6" name="arrow-18"/>
          <p:cNvSpPr/>
          <p:nvPr/>
        </p:nvSpPr>
        <p:spPr>
          <a:xfrm>
            <a:off x="1892808" y="1828800"/>
            <a:ext cx="23774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step-19"/>
          <p:cNvSpPr/>
          <p:nvPr/>
        </p:nvSpPr>
        <p:spPr>
          <a:xfrm>
            <a:off x="2148840" y="1417320"/>
            <a:ext cx="14173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20"/>
          <p:cNvSpPr txBox="1"/>
          <p:nvPr/>
        </p:nvSpPr>
        <p:spPr>
          <a:xfrm>
            <a:off x="2194560" y="14173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 работе</a:t>
            </a:r>
            <a:endParaRPr lang="en-US" sz="1400" dirty="0"/>
          </a:p>
        </p:txBody>
      </p:sp>
      <p:sp>
        <p:nvSpPr>
          <p:cNvPr id="9" name="arrow-21"/>
          <p:cNvSpPr/>
          <p:nvPr/>
        </p:nvSpPr>
        <p:spPr>
          <a:xfrm>
            <a:off x="3584448" y="1828800"/>
            <a:ext cx="23774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step-22"/>
          <p:cNvSpPr/>
          <p:nvPr/>
        </p:nvSpPr>
        <p:spPr>
          <a:xfrm>
            <a:off x="3840480" y="1417320"/>
            <a:ext cx="14173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23"/>
          <p:cNvSpPr txBox="1"/>
          <p:nvPr/>
        </p:nvSpPr>
        <p:spPr>
          <a:xfrm>
            <a:off x="3886200" y="14173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Ожидает студента</a:t>
            </a:r>
            <a:endParaRPr lang="en-US" sz="1400" dirty="0"/>
          </a:p>
        </p:txBody>
      </p:sp>
      <p:sp>
        <p:nvSpPr>
          <p:cNvPr id="12" name="arrow-24"/>
          <p:cNvSpPr/>
          <p:nvPr/>
        </p:nvSpPr>
        <p:spPr>
          <a:xfrm>
            <a:off x="5276088" y="1828800"/>
            <a:ext cx="23774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step-25"/>
          <p:cNvSpPr/>
          <p:nvPr/>
        </p:nvSpPr>
        <p:spPr>
          <a:xfrm>
            <a:off x="5532120" y="1417320"/>
            <a:ext cx="14173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-26"/>
          <p:cNvSpPr txBox="1"/>
          <p:nvPr/>
        </p:nvSpPr>
        <p:spPr>
          <a:xfrm>
            <a:off x="5577840" y="14173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Решена</a:t>
            </a:r>
            <a:endParaRPr lang="en-US" sz="1400" dirty="0"/>
          </a:p>
        </p:txBody>
      </p:sp>
      <p:sp>
        <p:nvSpPr>
          <p:cNvPr id="15" name="arrow-27"/>
          <p:cNvSpPr/>
          <p:nvPr/>
        </p:nvSpPr>
        <p:spPr>
          <a:xfrm>
            <a:off x="6967728" y="1828800"/>
            <a:ext cx="23774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step-28"/>
          <p:cNvSpPr/>
          <p:nvPr/>
        </p:nvSpPr>
        <p:spPr>
          <a:xfrm>
            <a:off x="7223760" y="1417320"/>
            <a:ext cx="141732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-29"/>
          <p:cNvSpPr txBox="1"/>
          <p:nvPr/>
        </p:nvSpPr>
        <p:spPr>
          <a:xfrm>
            <a:off x="7269480" y="14173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Закрыта</a:t>
            </a:r>
            <a:endParaRPr lang="en-US" sz="1400" dirty="0"/>
          </a:p>
        </p:txBody>
      </p:sp>
      <p:sp>
        <p:nvSpPr>
          <p:cNvPr id="18" name="text-30"/>
          <p:cNvSpPr txBox="1"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Из «Решена» заявку можно переоткрыть; из «Закрыта» переходов нет</a:t>
            </a:r>
            <a:endParaRPr lang="en-US" sz="1400" dirty="0"/>
          </a:p>
        </p:txBody>
      </p:sp>
      <p:sp>
        <p:nvSpPr>
          <p:cNvPr id="19" name="text-31"/>
          <p:cNvSpPr txBox="1"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Срок решения (SLA) в обычный период</a:t>
            </a:r>
            <a:endParaRPr lang="en-US" sz="1600" dirty="0"/>
          </a:p>
        </p:txBody>
      </p:sp>
      <p:sp>
        <p:nvSpPr>
          <p:cNvPr id="20" name="card-32"/>
          <p:cNvSpPr/>
          <p:nvPr/>
        </p:nvSpPr>
        <p:spPr>
          <a:xfrm>
            <a:off x="457200" y="329184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hip-33"/>
          <p:cNvSpPr/>
          <p:nvPr/>
        </p:nvSpPr>
        <p:spPr>
          <a:xfrm>
            <a:off x="594360" y="34290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-34"/>
          <p:cNvSpPr txBox="1"/>
          <p:nvPr/>
        </p:nvSpPr>
        <p:spPr>
          <a:xfrm>
            <a:off x="5943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P1</a:t>
            </a:r>
            <a:endParaRPr lang="en-US" sz="1400" dirty="0"/>
          </a:p>
        </p:txBody>
      </p:sp>
      <p:sp>
        <p:nvSpPr>
          <p:cNvPr id="23" name="text-35"/>
          <p:cNvSpPr txBox="1"/>
          <p:nvPr/>
        </p:nvSpPr>
        <p:spPr>
          <a:xfrm>
            <a:off x="1234440" y="34015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ч</a:t>
            </a:r>
            <a:endParaRPr lang="en-US" sz="2800" dirty="0"/>
          </a:p>
        </p:txBody>
      </p:sp>
      <p:sp>
        <p:nvSpPr>
          <p:cNvPr id="24" name="text-36"/>
          <p:cNvSpPr txBox="1"/>
          <p:nvPr/>
        </p:nvSpPr>
        <p:spPr>
          <a:xfrm>
            <a:off x="59436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срочно + стипендия</a:t>
            </a:r>
            <a:endParaRPr lang="en-US" sz="1400" dirty="0"/>
          </a:p>
        </p:txBody>
      </p:sp>
      <p:sp>
        <p:nvSpPr>
          <p:cNvPr id="25" name="card-37"/>
          <p:cNvSpPr/>
          <p:nvPr/>
        </p:nvSpPr>
        <p:spPr>
          <a:xfrm>
            <a:off x="2560320" y="329184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hip-38"/>
          <p:cNvSpPr/>
          <p:nvPr/>
        </p:nvSpPr>
        <p:spPr>
          <a:xfrm>
            <a:off x="2697480" y="34290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-39"/>
          <p:cNvSpPr txBox="1"/>
          <p:nvPr/>
        </p:nvSpPr>
        <p:spPr>
          <a:xfrm>
            <a:off x="2697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P2</a:t>
            </a:r>
            <a:endParaRPr lang="en-US" sz="1400" dirty="0"/>
          </a:p>
        </p:txBody>
      </p:sp>
      <p:sp>
        <p:nvSpPr>
          <p:cNvPr id="28" name="text-40"/>
          <p:cNvSpPr txBox="1"/>
          <p:nvPr/>
        </p:nvSpPr>
        <p:spPr>
          <a:xfrm>
            <a:off x="3337560" y="34015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ч</a:t>
            </a:r>
            <a:endParaRPr lang="en-US" sz="2800" dirty="0"/>
          </a:p>
        </p:txBody>
      </p:sp>
      <p:sp>
        <p:nvSpPr>
          <p:cNvPr id="29" name="text-41"/>
          <p:cNvSpPr txBox="1"/>
          <p:nvPr/>
        </p:nvSpPr>
        <p:spPr>
          <a:xfrm>
            <a:off x="269748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стипендия</a:t>
            </a:r>
            <a:endParaRPr lang="en-US" sz="1400" dirty="0"/>
          </a:p>
        </p:txBody>
      </p:sp>
      <p:sp>
        <p:nvSpPr>
          <p:cNvPr id="30" name="card-42"/>
          <p:cNvSpPr/>
          <p:nvPr/>
        </p:nvSpPr>
        <p:spPr>
          <a:xfrm>
            <a:off x="4663440" y="329184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chip-43"/>
          <p:cNvSpPr/>
          <p:nvPr/>
        </p:nvSpPr>
        <p:spPr>
          <a:xfrm>
            <a:off x="4800600" y="3429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-44"/>
          <p:cNvSpPr txBox="1"/>
          <p:nvPr/>
        </p:nvSpPr>
        <p:spPr>
          <a:xfrm>
            <a:off x="48006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P3</a:t>
            </a:r>
            <a:endParaRPr lang="en-US" sz="1400" dirty="0"/>
          </a:p>
        </p:txBody>
      </p:sp>
      <p:sp>
        <p:nvSpPr>
          <p:cNvPr id="33" name="text-45"/>
          <p:cNvSpPr txBox="1"/>
          <p:nvPr/>
        </p:nvSpPr>
        <p:spPr>
          <a:xfrm>
            <a:off x="5440680" y="34015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ч</a:t>
            </a:r>
            <a:endParaRPr lang="en-US" sz="2800" dirty="0"/>
          </a:p>
        </p:txBody>
      </p:sp>
      <p:sp>
        <p:nvSpPr>
          <p:cNvPr id="34" name="text-46"/>
          <p:cNvSpPr txBox="1"/>
          <p:nvPr/>
        </p:nvSpPr>
        <p:spPr>
          <a:xfrm>
            <a:off x="480060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оценки, расписание</a:t>
            </a:r>
            <a:endParaRPr lang="en-US" sz="1400" dirty="0"/>
          </a:p>
        </p:txBody>
      </p:sp>
      <p:sp>
        <p:nvSpPr>
          <p:cNvPr id="35" name="card-47"/>
          <p:cNvSpPr/>
          <p:nvPr/>
        </p:nvSpPr>
        <p:spPr>
          <a:xfrm>
            <a:off x="6766560" y="329184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chip-48"/>
          <p:cNvSpPr/>
          <p:nvPr/>
        </p:nvSpPr>
        <p:spPr>
          <a:xfrm>
            <a:off x="6903720" y="34290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text-49"/>
          <p:cNvSpPr txBox="1"/>
          <p:nvPr/>
        </p:nvSpPr>
        <p:spPr>
          <a:xfrm>
            <a:off x="69037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P4</a:t>
            </a:r>
            <a:endParaRPr lang="en-US" sz="1400" dirty="0"/>
          </a:p>
        </p:txBody>
      </p:sp>
      <p:sp>
        <p:nvSpPr>
          <p:cNvPr id="38" name="text-50"/>
          <p:cNvSpPr txBox="1"/>
          <p:nvPr/>
        </p:nvSpPr>
        <p:spPr>
          <a:xfrm>
            <a:off x="7543800" y="34015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ч</a:t>
            </a:r>
            <a:endParaRPr lang="en-US" sz="2800" dirty="0"/>
          </a:p>
        </p:txBody>
      </p:sp>
      <p:sp>
        <p:nvSpPr>
          <p:cNvPr id="39" name="text-51"/>
          <p:cNvSpPr txBox="1"/>
          <p:nvPr/>
        </p:nvSpPr>
        <p:spPr>
          <a:xfrm>
            <a:off x="690372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документы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8E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Архитектура: три слоя</a:t>
            </a:r>
            <a:endParaRPr lang="en-US" sz="3400" dirty="0"/>
          </a:p>
        </p:txBody>
      </p:sp>
      <p:sp>
        <p:nvSpPr>
          <p:cNvPr id="4" name="card-52"/>
          <p:cNvSpPr/>
          <p:nvPr/>
        </p:nvSpPr>
        <p:spPr>
          <a:xfrm>
            <a:off x="548640" y="1371600"/>
            <a:ext cx="2286000" cy="269748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ad-53"/>
          <p:cNvSpPr/>
          <p:nvPr/>
        </p:nvSpPr>
        <p:spPr>
          <a:xfrm>
            <a:off x="548640" y="1371600"/>
            <a:ext cx="228600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-54"/>
          <p:cNvSpPr txBox="1"/>
          <p:nvPr/>
        </p:nvSpPr>
        <p:spPr>
          <a:xfrm>
            <a:off x="54864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2000" dirty="0"/>
          </a:p>
        </p:txBody>
      </p:sp>
      <p:sp>
        <p:nvSpPr>
          <p:cNvPr id="7" name="text-55"/>
          <p:cNvSpPr txBox="1"/>
          <p:nvPr/>
        </p:nvSpPr>
        <p:spPr>
          <a:xfrm>
            <a:off x="777240" y="2103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tickets.json</a:t>
            </a:r>
            <a:endParaRPr lang="en-US" sz="1600" dirty="0"/>
          </a:p>
        </p:txBody>
      </p:sp>
      <p:sp>
        <p:nvSpPr>
          <p:cNvPr id="8" name="card-56"/>
          <p:cNvSpPr/>
          <p:nvPr/>
        </p:nvSpPr>
        <p:spPr>
          <a:xfrm>
            <a:off x="3154680" y="1371600"/>
            <a:ext cx="310896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ead-57"/>
          <p:cNvSpPr/>
          <p:nvPr/>
        </p:nvSpPr>
        <p:spPr>
          <a:xfrm>
            <a:off x="3154680" y="1371600"/>
            <a:ext cx="31089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58"/>
          <p:cNvSpPr txBox="1"/>
          <p:nvPr/>
        </p:nvSpPr>
        <p:spPr>
          <a:xfrm>
            <a:off x="315468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Логика</a:t>
            </a:r>
            <a:endParaRPr lang="en-US" sz="2000" dirty="0"/>
          </a:p>
        </p:txBody>
      </p:sp>
      <p:sp>
        <p:nvSpPr>
          <p:cNvPr id="11" name="text-59"/>
          <p:cNvSpPr txBox="1"/>
          <p:nvPr/>
        </p:nvSpPr>
        <p:spPr>
          <a:xfrm>
            <a:off x="3383280" y="21031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policies.py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analytics.py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service.py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reports.py</a:t>
            </a:r>
            <a:endParaRPr lang="en-US" sz="1600" dirty="0"/>
          </a:p>
        </p:txBody>
      </p:sp>
      <p:sp>
        <p:nvSpPr>
          <p:cNvPr id="12" name="card-60"/>
          <p:cNvSpPr/>
          <p:nvPr/>
        </p:nvSpPr>
        <p:spPr>
          <a:xfrm>
            <a:off x="6583680" y="1371600"/>
            <a:ext cx="2011680" cy="26974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head-61"/>
          <p:cNvSpPr/>
          <p:nvPr/>
        </p:nvSpPr>
        <p:spPr>
          <a:xfrm>
            <a:off x="6583680" y="1371600"/>
            <a:ext cx="201168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-62"/>
          <p:cNvSpPr txBox="1"/>
          <p:nvPr/>
        </p:nvSpPr>
        <p:spPr>
          <a:xfrm>
            <a:off x="658368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</a:t>
            </a:r>
            <a:endParaRPr lang="en-US" sz="2000" dirty="0"/>
          </a:p>
        </p:txBody>
      </p:sp>
      <p:sp>
        <p:nvSpPr>
          <p:cNvPr id="15" name="text-63"/>
          <p:cNvSpPr txBox="1"/>
          <p:nvPr/>
        </p:nvSpPr>
        <p:spPr>
          <a:xfrm>
            <a:off x="6812280" y="210312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меню и демо</a:t>
            </a:r>
            <a:endParaRPr lang="en-US" sz="1600" dirty="0"/>
          </a:p>
        </p:txBody>
      </p:sp>
      <p:sp>
        <p:nvSpPr>
          <p:cNvPr id="16" name="arrow-64"/>
          <p:cNvSpPr/>
          <p:nvPr/>
        </p:nvSpPr>
        <p:spPr>
          <a:xfrm>
            <a:off x="2862072" y="256032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arrow-65"/>
          <p:cNvSpPr/>
          <p:nvPr/>
        </p:nvSpPr>
        <p:spPr>
          <a:xfrm>
            <a:off x="6291072" y="256032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text-66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Зависимости идут в одну сторону: main → reports → service → analytics →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8E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Лекции 1–8 в проекте</a:t>
            </a:r>
            <a:endParaRPr lang="en-US" sz="3400" dirty="0"/>
          </a:p>
        </p:txBody>
      </p:sp>
      <p:sp>
        <p:nvSpPr>
          <p:cNvPr id="4" name="card-67"/>
          <p:cNvSpPr/>
          <p:nvPr/>
        </p:nvSpPr>
        <p:spPr>
          <a:xfrm>
            <a:off x="548640" y="141732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68"/>
          <p:cNvSpPr txBox="1"/>
          <p:nvPr/>
        </p:nvSpPr>
        <p:spPr>
          <a:xfrm>
            <a:off x="73152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Лекция 1</a:t>
            </a:r>
            <a:endParaRPr lang="en-US" sz="1200" dirty="0"/>
          </a:p>
        </p:txBody>
      </p:sp>
      <p:sp>
        <p:nvSpPr>
          <p:cNvPr id="6" name="text-69"/>
          <p:cNvSpPr txBox="1"/>
          <p:nvPr/>
        </p:nvSpPr>
        <p:spPr>
          <a:xfrm>
            <a:off x="73152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Сравнение трёх парадигм</a:t>
            </a:r>
            <a:endParaRPr lang="en-US" sz="1600" dirty="0"/>
          </a:p>
        </p:txBody>
      </p:sp>
      <p:sp>
        <p:nvSpPr>
          <p:cNvPr id="7" name="card-70"/>
          <p:cNvSpPr/>
          <p:nvPr/>
        </p:nvSpPr>
        <p:spPr>
          <a:xfrm>
            <a:off x="2606040" y="141732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71"/>
          <p:cNvSpPr txBox="1"/>
          <p:nvPr/>
        </p:nvSpPr>
        <p:spPr>
          <a:xfrm>
            <a:off x="278892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Лекция 2</a:t>
            </a:r>
            <a:endParaRPr lang="en-US" sz="1200" dirty="0"/>
          </a:p>
        </p:txBody>
      </p:sp>
      <p:sp>
        <p:nvSpPr>
          <p:cNvPr id="9" name="text-72"/>
          <p:cNvSpPr txBox="1"/>
          <p:nvPr/>
        </p:nvSpPr>
        <p:spPr>
          <a:xfrm>
            <a:off x="278892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Прототип на циклах</a:t>
            </a:r>
            <a:endParaRPr lang="en-US" sz="1600" dirty="0"/>
          </a:p>
        </p:txBody>
      </p:sp>
      <p:sp>
        <p:nvSpPr>
          <p:cNvPr id="10" name="card-73"/>
          <p:cNvSpPr/>
          <p:nvPr/>
        </p:nvSpPr>
        <p:spPr>
          <a:xfrm>
            <a:off x="4663440" y="141732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74"/>
          <p:cNvSpPr txBox="1"/>
          <p:nvPr/>
        </p:nvSpPr>
        <p:spPr>
          <a:xfrm>
            <a:off x="484632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Лекция 3</a:t>
            </a:r>
            <a:endParaRPr lang="en-US" sz="1200" dirty="0"/>
          </a:p>
        </p:txBody>
      </p:sp>
      <p:sp>
        <p:nvSpPr>
          <p:cNvPr id="12" name="text-75"/>
          <p:cNvSpPr txBox="1"/>
          <p:nvPr/>
        </p:nvSpPr>
        <p:spPr>
          <a:xfrm>
            <a:off x="484632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Более 30 функций</a:t>
            </a:r>
            <a:endParaRPr lang="en-US" sz="1600" dirty="0"/>
          </a:p>
        </p:txBody>
      </p:sp>
      <p:sp>
        <p:nvSpPr>
          <p:cNvPr id="13" name="card-76"/>
          <p:cNvSpPr/>
          <p:nvPr/>
        </p:nvSpPr>
        <p:spPr>
          <a:xfrm>
            <a:off x="6720840" y="141732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77"/>
          <p:cNvSpPr txBox="1"/>
          <p:nvPr/>
        </p:nvSpPr>
        <p:spPr>
          <a:xfrm>
            <a:off x="690372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Лекция 4</a:t>
            </a:r>
            <a:endParaRPr lang="en-US" sz="1200" dirty="0"/>
          </a:p>
        </p:txBody>
      </p:sp>
      <p:sp>
        <p:nvSpPr>
          <p:cNvPr id="15" name="text-78"/>
          <p:cNvSpPr txBox="1"/>
          <p:nvPr/>
        </p:nvSpPr>
        <p:spPr>
          <a:xfrm>
            <a:off x="690372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9 модулей + точка входа</a:t>
            </a:r>
            <a:endParaRPr lang="en-US" sz="1600" dirty="0"/>
          </a:p>
        </p:txBody>
      </p:sp>
      <p:sp>
        <p:nvSpPr>
          <p:cNvPr id="16" name="card-79"/>
          <p:cNvSpPr/>
          <p:nvPr/>
        </p:nvSpPr>
        <p:spPr>
          <a:xfrm>
            <a:off x="548640" y="306324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80"/>
          <p:cNvSpPr txBox="1"/>
          <p:nvPr/>
        </p:nvSpPr>
        <p:spPr>
          <a:xfrm>
            <a:off x="7315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Лекция 5</a:t>
            </a:r>
            <a:endParaRPr lang="en-US" sz="1200" dirty="0"/>
          </a:p>
        </p:txBody>
      </p:sp>
      <p:sp>
        <p:nvSpPr>
          <p:cNvPr id="18" name="text-81"/>
          <p:cNvSpPr txBox="1"/>
          <p:nvPr/>
        </p:nvSpPr>
        <p:spPr>
          <a:xfrm>
            <a:off x="731520" y="36118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Ticket: закрытое состояние</a:t>
            </a:r>
            <a:endParaRPr lang="en-US" sz="1600" dirty="0"/>
          </a:p>
        </p:txBody>
      </p:sp>
      <p:sp>
        <p:nvSpPr>
          <p:cNvPr id="19" name="card-82"/>
          <p:cNvSpPr/>
          <p:nvPr/>
        </p:nvSpPr>
        <p:spPr>
          <a:xfrm>
            <a:off x="2606040" y="306324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83"/>
          <p:cNvSpPr txBox="1"/>
          <p:nvPr/>
        </p:nvSpPr>
        <p:spPr>
          <a:xfrm>
            <a:off x="27889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Лекция 6</a:t>
            </a:r>
            <a:endParaRPr lang="en-US" sz="1200" dirty="0"/>
          </a:p>
        </p:txBody>
      </p:sp>
      <p:sp>
        <p:nvSpPr>
          <p:cNvPr id="21" name="text-84"/>
          <p:cNvSpPr txBox="1"/>
          <p:nvPr/>
        </p:nvSpPr>
        <p:spPr>
          <a:xfrm>
            <a:off x="2788920" y="36118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Интерфейс и композиция</a:t>
            </a:r>
            <a:endParaRPr lang="en-US" sz="1600" dirty="0"/>
          </a:p>
        </p:txBody>
      </p:sp>
      <p:sp>
        <p:nvSpPr>
          <p:cNvPr id="22" name="card-85"/>
          <p:cNvSpPr/>
          <p:nvPr/>
        </p:nvSpPr>
        <p:spPr>
          <a:xfrm>
            <a:off x="4663440" y="306324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86"/>
          <p:cNvSpPr txBox="1"/>
          <p:nvPr/>
        </p:nvSpPr>
        <p:spPr>
          <a:xfrm>
            <a:off x="48463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Лекция 7</a:t>
            </a:r>
            <a:endParaRPr lang="en-US" sz="1200" dirty="0"/>
          </a:p>
        </p:txBody>
      </p:sp>
      <p:sp>
        <p:nvSpPr>
          <p:cNvPr id="24" name="text-87"/>
          <p:cNvSpPr txBox="1"/>
          <p:nvPr/>
        </p:nvSpPr>
        <p:spPr>
          <a:xfrm>
            <a:off x="4846320" y="36118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Чистые функции, рекурсия</a:t>
            </a:r>
            <a:endParaRPr lang="en-US" sz="1600" dirty="0"/>
          </a:p>
        </p:txBody>
      </p:sp>
      <p:sp>
        <p:nvSpPr>
          <p:cNvPr id="25" name="card-88"/>
          <p:cNvSpPr/>
          <p:nvPr/>
        </p:nvSpPr>
        <p:spPr>
          <a:xfrm>
            <a:off x="6720840" y="306324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-89"/>
          <p:cNvSpPr txBox="1"/>
          <p:nvPr/>
        </p:nvSpPr>
        <p:spPr>
          <a:xfrm>
            <a:off x="69037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Лекция 8</a:t>
            </a:r>
            <a:endParaRPr lang="en-US" sz="1200" dirty="0"/>
          </a:p>
        </p:txBody>
      </p:sp>
      <p:sp>
        <p:nvSpPr>
          <p:cNvPr id="27" name="text-90"/>
          <p:cNvSpPr txBox="1"/>
          <p:nvPr/>
        </p:nvSpPr>
        <p:spPr>
          <a:xfrm>
            <a:off x="6903720" y="36118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Генератор, замыкания, reduce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8E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ООП: политика как интерфейс</a:t>
            </a:r>
            <a:endParaRPr lang="en-US" sz="3400" dirty="0"/>
          </a:p>
        </p:txBody>
      </p:sp>
      <p:sp>
        <p:nvSpPr>
          <p:cNvPr id="4" name="class-91"/>
          <p:cNvSpPr/>
          <p:nvPr/>
        </p:nvSpPr>
        <p:spPr>
          <a:xfrm>
            <a:off x="1280160" y="1371600"/>
            <a:ext cx="27432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-92"/>
          <p:cNvSpPr txBox="1"/>
          <p:nvPr/>
        </p:nvSpPr>
        <p:spPr>
          <a:xfrm>
            <a:off x="128016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PriorityPolicy (интерфейс)</a:t>
            </a:r>
            <a:endParaRPr lang="en-US" sz="1400" dirty="0"/>
          </a:p>
        </p:txBody>
      </p:sp>
      <p:sp>
        <p:nvSpPr>
          <p:cNvPr id="6" name="class-93"/>
          <p:cNvSpPr/>
          <p:nvPr/>
        </p:nvSpPr>
        <p:spPr>
          <a:xfrm>
            <a:off x="548640" y="2834640"/>
            <a:ext cx="210312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94"/>
          <p:cNvSpPr txBox="1"/>
          <p:nvPr/>
        </p:nvSpPr>
        <p:spPr>
          <a:xfrm>
            <a:off x="548640" y="2834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DefaultPriority</a:t>
            </a:r>
            <a:endParaRPr lang="en-US" sz="1400" dirty="0"/>
          </a:p>
        </p:txBody>
      </p:sp>
      <p:sp>
        <p:nvSpPr>
          <p:cNvPr id="8" name="class-95"/>
          <p:cNvSpPr/>
          <p:nvPr/>
        </p:nvSpPr>
        <p:spPr>
          <a:xfrm>
            <a:off x="3017520" y="283464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-96"/>
          <p:cNvSpPr txBox="1"/>
          <p:nvPr/>
        </p:nvSpPr>
        <p:spPr>
          <a:xfrm>
            <a:off x="3017520" y="2834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ExamPeriodPriority</a:t>
            </a:r>
            <a:endParaRPr lang="en-US" sz="1400" dirty="0"/>
          </a:p>
        </p:txBody>
      </p:sp>
      <p:sp>
        <p:nvSpPr>
          <p:cNvPr id="10" name="link-97"/>
          <p:cNvSpPr/>
          <p:nvPr/>
        </p:nvSpPr>
        <p:spPr>
          <a:xfrm>
            <a:off x="1600200" y="2057400"/>
            <a:ext cx="0" cy="77724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1" name="link-98"/>
          <p:cNvSpPr/>
          <p:nvPr/>
        </p:nvSpPr>
        <p:spPr>
          <a:xfrm>
            <a:off x="4206240" y="2057400"/>
            <a:ext cx="0" cy="77724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2" name="link-99"/>
          <p:cNvSpPr/>
          <p:nvPr/>
        </p:nvSpPr>
        <p:spPr>
          <a:xfrm>
            <a:off x="1600200" y="2057400"/>
            <a:ext cx="260604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3" name="text-100"/>
          <p:cNvSpPr txBox="1"/>
          <p:nvPr/>
        </p:nvSpPr>
        <p:spPr>
          <a:xfrm>
            <a:off x="54864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ExamPeriodPriority оборачивает базовую политику</a:t>
            </a:r>
            <a:endParaRPr lang="en-US" sz="1400" dirty="0"/>
          </a:p>
        </p:txBody>
      </p:sp>
      <p:sp>
        <p:nvSpPr>
          <p:cNvPr id="14" name="card-101"/>
          <p:cNvSpPr/>
          <p:nvPr/>
        </p:nvSpPr>
        <p:spPr>
          <a:xfrm>
            <a:off x="5760720" y="1371600"/>
            <a:ext cx="28346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-102"/>
          <p:cNvSpPr txBox="1"/>
          <p:nvPr/>
        </p:nvSpPr>
        <p:spPr>
          <a:xfrm>
            <a:off x="594360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Закрытое состояние</a:t>
            </a:r>
            <a:endParaRPr lang="en-US" sz="1400" dirty="0"/>
          </a:p>
        </p:txBody>
      </p:sp>
      <p:sp>
        <p:nvSpPr>
          <p:cNvPr id="16" name="text-103"/>
          <p:cNvSpPr txBox="1"/>
          <p:nvPr/>
        </p:nvSpPr>
        <p:spPr>
          <a:xfrm>
            <a:off x="5943600" y="1755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Статус меняется только через проверяемые методы</a:t>
            </a:r>
            <a:endParaRPr lang="en-US" sz="1400" dirty="0"/>
          </a:p>
        </p:txBody>
      </p:sp>
      <p:sp>
        <p:nvSpPr>
          <p:cNvPr id="17" name="card-104"/>
          <p:cNvSpPr/>
          <p:nvPr/>
        </p:nvSpPr>
        <p:spPr>
          <a:xfrm>
            <a:off x="5760720" y="2468880"/>
            <a:ext cx="28346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-105"/>
          <p:cNvSpPr txBox="1"/>
          <p:nvPr/>
        </p:nvSpPr>
        <p:spPr>
          <a:xfrm>
            <a:off x="594360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Копии наружу</a:t>
            </a:r>
            <a:endParaRPr lang="en-US" sz="1400" dirty="0"/>
          </a:p>
        </p:txBody>
      </p:sp>
      <p:sp>
        <p:nvSpPr>
          <p:cNvPr id="19" name="text-106"/>
          <p:cNvSpPr txBox="1"/>
          <p:nvPr/>
        </p:nvSpPr>
        <p:spPr>
          <a:xfrm>
            <a:off x="5943600" y="2852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history() и TicketView нельзя изменить снаружи</a:t>
            </a:r>
            <a:endParaRPr lang="en-US" sz="1400" dirty="0"/>
          </a:p>
        </p:txBody>
      </p:sp>
      <p:sp>
        <p:nvSpPr>
          <p:cNvPr id="20" name="card-107"/>
          <p:cNvSpPr/>
          <p:nvPr/>
        </p:nvSpPr>
        <p:spPr>
          <a:xfrm>
            <a:off x="5760720" y="3566160"/>
            <a:ext cx="28346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-108"/>
          <p:cNvSpPr txBox="1"/>
          <p:nvPr/>
        </p:nvSpPr>
        <p:spPr>
          <a:xfrm>
            <a:off x="594360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Смена политики</a:t>
            </a:r>
            <a:endParaRPr lang="en-US" sz="1400" dirty="0"/>
          </a:p>
        </p:txBody>
      </p:sp>
      <p:sp>
        <p:nvSpPr>
          <p:cNvPr id="22" name="text-109"/>
          <p:cNvSpPr txBox="1"/>
          <p:nvPr/>
        </p:nvSpPr>
        <p:spPr>
          <a:xfrm>
            <a:off x="5943600" y="39502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Сроки и приоритеты всех заявок пересчитываются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8E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Функциональный конвейер</a:t>
            </a:r>
            <a:endParaRPr lang="en-US" sz="3400" dirty="0"/>
          </a:p>
        </p:txBody>
      </p:sp>
      <p:sp>
        <p:nvSpPr>
          <p:cNvPr id="4" name="code-110"/>
          <p:cNvSpPr/>
          <p:nvPr/>
        </p:nvSpPr>
        <p:spPr>
          <a:xfrm>
            <a:off x="548640" y="1371600"/>
            <a:ext cx="475488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-111"/>
          <p:cNvSpPr txBox="1"/>
          <p:nvPr/>
        </p:nvSpPr>
        <p:spPr>
          <a:xfrm>
            <a:off x="777240" y="155448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iter_queue(views):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heap = [(queue_key(v), 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v in views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is_open(v)]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heapify(heap)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heap: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heappop(heap)[1]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 = filter(overdue_at(now), views)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top5 = take(5, iter_queue(late))</a:t>
            </a:r>
            <a:endParaRPr lang="en-US" sz="1400" dirty="0"/>
          </a:p>
        </p:txBody>
      </p:sp>
      <p:sp>
        <p:nvSpPr>
          <p:cNvPr id="6" name="card-112"/>
          <p:cNvSpPr/>
          <p:nvPr/>
        </p:nvSpPr>
        <p:spPr>
          <a:xfrm>
            <a:off x="5577840" y="137160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113"/>
          <p:cNvSpPr txBox="1"/>
          <p:nvPr/>
        </p:nvSpPr>
        <p:spPr>
          <a:xfrm>
            <a:off x="57607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Замыкания</a:t>
            </a:r>
            <a:endParaRPr lang="en-US" sz="1400" dirty="0"/>
          </a:p>
        </p:txBody>
      </p:sp>
      <p:sp>
        <p:nvSpPr>
          <p:cNvPr id="8" name="text-114"/>
          <p:cNvSpPr txBox="1"/>
          <p:nvPr/>
        </p:nvSpPr>
        <p:spPr>
          <a:xfrm>
            <a:off x="5760720" y="17556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category_is, priority_at_least, overdue_at</a:t>
            </a:r>
            <a:endParaRPr lang="en-US" sz="1400" dirty="0"/>
          </a:p>
        </p:txBody>
      </p:sp>
      <p:sp>
        <p:nvSpPr>
          <p:cNvPr id="9" name="card-115"/>
          <p:cNvSpPr/>
          <p:nvPr/>
        </p:nvSpPr>
        <p:spPr>
          <a:xfrm>
            <a:off x="5577840" y="246888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116"/>
          <p:cNvSpPr txBox="1"/>
          <p:nvPr/>
        </p:nvSpPr>
        <p:spPr>
          <a:xfrm>
            <a:off x="576072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Ленивость</a:t>
            </a:r>
            <a:endParaRPr lang="en-US" sz="1400" dirty="0"/>
          </a:p>
        </p:txBody>
      </p:sp>
      <p:sp>
        <p:nvSpPr>
          <p:cNvPr id="11" name="text-117"/>
          <p:cNvSpPr txBox="1"/>
          <p:nvPr/>
        </p:nvSpPr>
        <p:spPr>
          <a:xfrm>
            <a:off x="5760720" y="2852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первые k заявок без полной сортировки</a:t>
            </a:r>
            <a:endParaRPr lang="en-US" sz="1400" dirty="0"/>
          </a:p>
        </p:txBody>
      </p:sp>
      <p:sp>
        <p:nvSpPr>
          <p:cNvPr id="12" name="card-118"/>
          <p:cNvSpPr/>
          <p:nvPr/>
        </p:nvSpPr>
        <p:spPr>
          <a:xfrm>
            <a:off x="5577840" y="356616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119"/>
          <p:cNvSpPr txBox="1"/>
          <p:nvPr/>
        </p:nvSpPr>
        <p:spPr>
          <a:xfrm>
            <a:off x="57607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reduce</a:t>
            </a:r>
            <a:endParaRPr lang="en-US" sz="1400" dirty="0"/>
          </a:p>
        </p:txBody>
      </p:sp>
      <p:sp>
        <p:nvSpPr>
          <p:cNvPr id="14" name="text-120"/>
          <p:cNvSpPr txBox="1"/>
          <p:nvPr/>
        </p:nvSpPr>
        <p:spPr>
          <a:xfrm>
            <a:off x="5760720" y="3950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статусы, приоритеты и суммарная просрочка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8E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Три парадигмы, один ответ</a:t>
            </a:r>
            <a:endParaRPr lang="en-US" sz="3400" dirty="0"/>
          </a:p>
        </p:txBody>
      </p:sp>
      <p:sp>
        <p:nvSpPr>
          <p:cNvPr id="4" name="card-121"/>
          <p:cNvSpPr/>
          <p:nvPr/>
        </p:nvSpPr>
        <p:spPr>
          <a:xfrm>
            <a:off x="5486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22"/>
          <p:cNvSpPr txBox="1"/>
          <p:nvPr/>
        </p:nvSpPr>
        <p:spPr>
          <a:xfrm>
            <a:off x="73152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Императивная</a:t>
            </a:r>
            <a:endParaRPr lang="en-US" sz="1600" dirty="0"/>
          </a:p>
        </p:txBody>
      </p:sp>
      <p:sp>
        <p:nvSpPr>
          <p:cNvPr id="6" name="text-123"/>
          <p:cNvSpPr txBox="1"/>
          <p:nvPr/>
        </p:nvSpPr>
        <p:spPr>
          <a:xfrm>
            <a:off x="731520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Сильная сторона</a:t>
            </a:r>
            <a:endParaRPr lang="en-US" sz="1200" dirty="0"/>
          </a:p>
        </p:txBody>
      </p:sp>
      <p:sp>
        <p:nvSpPr>
          <p:cNvPr id="7" name="text-124"/>
          <p:cNvSpPr txBox="1"/>
          <p:nvPr/>
        </p:nvSpPr>
        <p:spPr>
          <a:xfrm>
            <a:off x="731520" y="2258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Быстрый прототип</a:t>
            </a:r>
            <a:endParaRPr lang="en-US" sz="1400" dirty="0"/>
          </a:p>
        </p:txBody>
      </p:sp>
      <p:sp>
        <p:nvSpPr>
          <p:cNvPr id="8" name="text-125"/>
          <p:cNvSpPr txBox="1"/>
          <p:nvPr/>
        </p:nvSpPr>
        <p:spPr>
          <a:xfrm>
            <a:off x="731520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Слабая сторона</a:t>
            </a:r>
            <a:endParaRPr lang="en-US" sz="1200" dirty="0"/>
          </a:p>
        </p:txBody>
      </p:sp>
      <p:sp>
        <p:nvSpPr>
          <p:cNvPr id="9" name="text-126"/>
          <p:cNvSpPr txBox="1"/>
          <p:nvPr/>
        </p:nvSpPr>
        <p:spPr>
          <a:xfrm>
            <a:off x="731520" y="3081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Правила зашиты в цикл</a:t>
            </a:r>
            <a:endParaRPr lang="en-US" sz="1400" dirty="0"/>
          </a:p>
        </p:txBody>
      </p:sp>
      <p:sp>
        <p:nvSpPr>
          <p:cNvPr id="10" name="card-127"/>
          <p:cNvSpPr/>
          <p:nvPr/>
        </p:nvSpPr>
        <p:spPr>
          <a:xfrm>
            <a:off x="32918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128"/>
          <p:cNvSpPr txBox="1"/>
          <p:nvPr/>
        </p:nvSpPr>
        <p:spPr>
          <a:xfrm>
            <a:off x="347472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Объектная</a:t>
            </a:r>
            <a:endParaRPr lang="en-US" sz="1600" dirty="0"/>
          </a:p>
        </p:txBody>
      </p:sp>
      <p:sp>
        <p:nvSpPr>
          <p:cNvPr id="12" name="text-129"/>
          <p:cNvSpPr txBox="1"/>
          <p:nvPr/>
        </p:nvSpPr>
        <p:spPr>
          <a:xfrm>
            <a:off x="3474720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Сильная сторона</a:t>
            </a:r>
            <a:endParaRPr lang="en-US" sz="1200" dirty="0"/>
          </a:p>
        </p:txBody>
      </p:sp>
      <p:sp>
        <p:nvSpPr>
          <p:cNvPr id="13" name="text-130"/>
          <p:cNvSpPr txBox="1"/>
          <p:nvPr/>
        </p:nvSpPr>
        <p:spPr>
          <a:xfrm>
            <a:off x="3474720" y="2258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Состояние и правила переходов</a:t>
            </a:r>
            <a:endParaRPr lang="en-US" sz="1400" dirty="0"/>
          </a:p>
        </p:txBody>
      </p:sp>
      <p:sp>
        <p:nvSpPr>
          <p:cNvPr id="14" name="text-131"/>
          <p:cNvSpPr txBox="1"/>
          <p:nvPr/>
        </p:nvSpPr>
        <p:spPr>
          <a:xfrm>
            <a:off x="3474720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Слабая сторона</a:t>
            </a:r>
            <a:endParaRPr lang="en-US" sz="1200" dirty="0"/>
          </a:p>
        </p:txBody>
      </p:sp>
      <p:sp>
        <p:nvSpPr>
          <p:cNvPr id="15" name="text-132"/>
          <p:cNvSpPr txBox="1"/>
          <p:nvPr/>
        </p:nvSpPr>
        <p:spPr>
          <a:xfrm>
            <a:off x="3474720" y="3081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Больше кода и классов</a:t>
            </a:r>
            <a:endParaRPr lang="en-US" sz="1400" dirty="0"/>
          </a:p>
        </p:txBody>
      </p:sp>
      <p:sp>
        <p:nvSpPr>
          <p:cNvPr id="16" name="card-133"/>
          <p:cNvSpPr/>
          <p:nvPr/>
        </p:nvSpPr>
        <p:spPr>
          <a:xfrm>
            <a:off x="60350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134"/>
          <p:cNvSpPr txBox="1"/>
          <p:nvPr/>
        </p:nvSpPr>
        <p:spPr>
          <a:xfrm>
            <a:off x="621792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Функциональная</a:t>
            </a:r>
            <a:endParaRPr lang="en-US" sz="1600" dirty="0"/>
          </a:p>
        </p:txBody>
      </p:sp>
      <p:sp>
        <p:nvSpPr>
          <p:cNvPr id="18" name="text-135"/>
          <p:cNvSpPr txBox="1"/>
          <p:nvPr/>
        </p:nvSpPr>
        <p:spPr>
          <a:xfrm>
            <a:off x="6217920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Сильная сторона</a:t>
            </a:r>
            <a:endParaRPr lang="en-US" sz="1200" dirty="0"/>
          </a:p>
        </p:txBody>
      </p:sp>
      <p:sp>
        <p:nvSpPr>
          <p:cNvPr id="19" name="text-136"/>
          <p:cNvSpPr txBox="1"/>
          <p:nvPr/>
        </p:nvSpPr>
        <p:spPr>
          <a:xfrm>
            <a:off x="6217920" y="2258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Отчёты без побочных эффектов</a:t>
            </a:r>
            <a:endParaRPr lang="en-US" sz="1400" dirty="0"/>
          </a:p>
        </p:txBody>
      </p:sp>
      <p:sp>
        <p:nvSpPr>
          <p:cNvPr id="20" name="text-137"/>
          <p:cNvSpPr txBox="1"/>
          <p:nvPr/>
        </p:nvSpPr>
        <p:spPr>
          <a:xfrm>
            <a:off x="6217920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Слабая сторона</a:t>
            </a:r>
            <a:endParaRPr lang="en-US" sz="1200" dirty="0"/>
          </a:p>
        </p:txBody>
      </p:sp>
      <p:sp>
        <p:nvSpPr>
          <p:cNvPr id="21" name="text-138"/>
          <p:cNvSpPr txBox="1"/>
          <p:nvPr/>
        </p:nvSpPr>
        <p:spPr>
          <a:xfrm>
            <a:off x="6217920" y="3081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Нужны готовые снимки данных</a:t>
            </a:r>
            <a:endParaRPr lang="en-US" sz="1400" dirty="0"/>
          </a:p>
        </p:txBody>
      </p:sp>
      <p:sp>
        <p:nvSpPr>
          <p:cNvPr id="22" name="text-139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Все три находят 12 нарушений SLA — результаты совпадают (проверяет тест)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8E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Цена режима сессии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40"/>
          <p:cNvSpPr/>
          <p:nvPr/>
        </p:nvSpPr>
        <p:spPr>
          <a:xfrm>
            <a:off x="5486400" y="1371600"/>
            <a:ext cx="31089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41"/>
          <p:cNvSpPr txBox="1"/>
          <p:nvPr/>
        </p:nvSpPr>
        <p:spPr>
          <a:xfrm>
            <a:off x="5486400" y="1508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→ 20%</a:t>
            </a:r>
            <a:endParaRPr lang="en-US" sz="3600" dirty="0"/>
          </a:p>
        </p:txBody>
      </p:sp>
      <p:sp>
        <p:nvSpPr>
          <p:cNvPr id="7" name="text-142"/>
          <p:cNvSpPr txBox="1"/>
          <p:nvPr/>
        </p:nvSpPr>
        <p:spPr>
          <a:xfrm>
            <a:off x="548640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заявок решено в срок</a:t>
            </a:r>
            <a:endParaRPr lang="en-US" sz="1400" dirty="0"/>
          </a:p>
        </p:txBody>
      </p:sp>
      <p:sp>
        <p:nvSpPr>
          <p:cNvPr id="8" name="text-143"/>
          <p:cNvSpPr txBox="1"/>
          <p:nvPr/>
        </p:nvSpPr>
        <p:spPr>
          <a:xfrm>
            <a:off x="5486400" y="3154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Суммарная просрочка вырастает с 382 до 586,5 ч: без новых исполнителей режим сессии не вытянуть.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8E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Итоги</a:t>
            </a:r>
            <a:endParaRPr lang="en-US" sz="4000" dirty="0"/>
          </a:p>
        </p:txBody>
      </p:sp>
      <p:sp>
        <p:nvSpPr>
          <p:cNvPr id="3" name="text-144"/>
          <p:cNvSpPr txBox="1"/>
          <p:nvPr/>
        </p:nvSpPr>
        <p:spPr>
          <a:xfrm>
            <a:off x="640080" y="164592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Выполнены все требования лекций 1–8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Гибрид парадигм: объекты для ядра, функции для аналитики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Тесты: 19 + 22 + 20, нормальные, граничные и ошибочные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Ограничения: данные сгенерированы, код около 730 строк</a:t>
            </a:r>
            <a:endParaRPr lang="en-US" sz="1800" dirty="0"/>
          </a:p>
        </p:txBody>
      </p:sp>
      <p:sp>
        <p:nvSpPr>
          <p:cNvPr id="4" name="circle-145"/>
          <p:cNvSpPr/>
          <p:nvPr/>
        </p:nvSpPr>
        <p:spPr>
          <a:xfrm>
            <a:off x="6309360" y="1737360"/>
            <a:ext cx="2194560" cy="21945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-146"/>
          <p:cNvSpPr txBox="1"/>
          <p:nvPr/>
        </p:nvSpPr>
        <p:spPr>
          <a:xfrm>
            <a:off x="630936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6600" dirty="0"/>
          </a:p>
        </p:txBody>
      </p:sp>
      <p:sp>
        <p:nvSpPr>
          <p:cNvPr id="6" name="text-147"/>
          <p:cNvSpPr txBox="1"/>
          <p:nvPr/>
        </p:nvSpPr>
        <p:spPr>
          <a:xfrm>
            <a:off x="630936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тест проходят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pDesk">
  <a:themeElements>
    <a:clrScheme name="HelpDesk">
      <a:dk1>
        <a:srgbClr val="0B2B33"/>
      </a:dk1>
      <a:lt1>
        <a:srgbClr val="FFFFFF"/>
      </a:lt1>
      <a:dk2>
        <a:srgbClr val="0E4A57"/>
      </a:dk2>
      <a:lt2>
        <a:srgbClr val="EAF2F3"/>
      </a:lt2>
      <a:accent1>
        <a:srgbClr val="0E7C86"/>
      </a:accent1>
      <a:accent2>
        <a:srgbClr val="FF6B57"/>
      </a:accent2>
      <a:accent3>
        <a:srgbClr val="F2B134"/>
      </a:accent3>
      <a:accent4>
        <a:srgbClr val="5B8E9B"/>
      </a:accent4>
      <a:accent5>
        <a:srgbClr val="2E9E6B"/>
      </a:accent5>
      <a:accent6>
        <a:srgbClr val="7A5C99"/>
      </a:accent6>
      <a:hlink>
        <a:srgbClr val="0E7C86"/>
      </a:hlink>
      <a:folHlink>
        <a:srgbClr val="5B8E9B"/>
      </a:folHlink>
    </a:clrScheme>
    <a:fontScheme name="Help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Служба поддержки студентов — мини-проект №8</dc:title>
  <dc:subject>PptxGenJS Presentation</dc:subject>
  <dc:creator>PptxGenJS</dc:creator>
  <cp:lastModifiedBy>PptxGenJS</cp:lastModifiedBy>
  <cp:revision>1</cp:revision>
  <dcterms:created xsi:type="dcterms:W3CDTF">2026-10-21T19:18:18Z</dcterms:created>
  <dcterms:modified xsi:type="dcterms:W3CDTF">2026-10-21T19:18:18Z</dcterms:modified>
</cp:coreProperties>
</file>